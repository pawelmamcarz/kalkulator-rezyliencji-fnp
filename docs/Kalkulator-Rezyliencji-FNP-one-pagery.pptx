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fnp.silence-tax.com/?utm_source=onepager&amp;utm_medium=print&amp;utm_campaign=fnp_beta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fnp.silence-tax.com/?utm_source=onepager&amp;utm_medium=print&amp;utm_campaign=fnp_beta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np.silence-tax.com/?utm_source=onepager&amp;utm_medium=print&amp;utm_campaign=fnp_beta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E2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KALKULATOR REZYLIENCJI FNP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92608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A8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WYBORU  ·  WRZESIEŃ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"/>
            <a:ext cx="11094415" cy="0"/>
          </a:xfrm>
          <a:prstGeom prst="line">
            <a:avLst/>
          </a:prstGeom>
          <a:noFill/>
          <a:ln w="9525">
            <a:solidFill>
              <a:srgbClr val="8A8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1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Trzy one-pagery.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Każdy jest kompletny: nagłówek, lead, treść, dowód, CTA. Wybierz jeden do druku i do maila.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20440" cy="288036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91440" cy="2880360"/>
          </a:xfrm>
          <a:prstGeom prst="rect">
            <a:avLst/>
          </a:prstGeom>
          <a:solidFill>
            <a:srgbClr val="B81A1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WARIANT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1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4672" y="3310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Zarządy i finanse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2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Ile Twoja firma traci na milczeniu?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2331720"/>
            <a:ext cx="3520440" cy="288036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2331720"/>
            <a:ext cx="91440" cy="2880360"/>
          </a:xfrm>
          <a:prstGeom prst="rect">
            <a:avLst/>
          </a:prstGeom>
          <a:solidFill>
            <a:srgbClr val="B8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50799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WARIANT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07992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1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Narracyjny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07992" y="3310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 publiczność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07992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2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Najdroższe słowa to te, które nigdy nie padły.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55280" y="2331720"/>
            <a:ext cx="3520440" cy="288036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0" y="2331720"/>
            <a:ext cx="91440" cy="2880360"/>
          </a:xfrm>
          <a:prstGeom prst="rect">
            <a:avLst/>
          </a:prstGeom>
          <a:solidFill>
            <a:srgbClr val="B8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21131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WARIANT 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11312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1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Trójkąt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11312" y="3310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Partnerzy i sprzedaż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11312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2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 liczby do planu w trzech krokach.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8A84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FUNDACJA NOWE PRZESTRZENIE  ×  PAWEŁ MAMCARZ  ·  IPSOS × FNP 2026 (n=1000)  ·  BETA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WARIANT A  ·  CFO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92608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ZARZĄDÓW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"/>
            <a:ext cx="11094415" cy="0"/>
          </a:xfrm>
          <a:prstGeom prst="line">
            <a:avLst/>
          </a:prstGeom>
          <a:noFill/>
          <a:ln w="9525">
            <a:solidFill>
              <a:srgbClr val="B8B2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Ile Twoja firma traci na milczeniu?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Kiedy ludzie nie mówią o problemach, firma płaci. Kalkulator Rezyliencji FNP przelicza deficyt bezpieczeństwa psychologicznego na roczny koszt w PLN. W 5 minut, na danych, które znasz z głowy.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977640" cy="2331720"/>
          </a:xfrm>
          <a:prstGeom prst="rect">
            <a:avLst/>
          </a:prstGeom>
          <a:solidFill>
            <a:srgbClr val="FCFCFA"/>
          </a:solidFill>
          <a:ln w="12700">
            <a:solidFill>
              <a:srgbClr val="C9C2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054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WPISUJESZ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816352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Przychody, koszty, zatrudnienie, przeciętne wynagrodzenie, rotacja. Plus suwak klimatu. Żadnych ankiet, żadnych danych osobowych.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2395728"/>
            <a:ext cx="4434840" cy="2331720"/>
          </a:xfrm>
          <a:prstGeom prst="rect">
            <a:avLst/>
          </a:prstGeom>
          <a:solidFill>
            <a:srgbClr val="FCFCFA"/>
          </a:solidFill>
          <a:ln w="12700">
            <a:solidFill>
              <a:srgbClr val="C9C2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25054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DOSTAJESZ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0328" y="2816352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Rotacja i utrata wiedzy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Błędy i compliance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Wypalenie i pasywność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Utracone innowacje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Koordynacja i hierarchia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777240"/>
            <a:ext cx="2313432" cy="3950208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4040" y="96012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00032" y="1207008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1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464040" y="2331720"/>
            <a:ext cx="20391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2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przychodów. Dla wielu firm to cała marża. Mówimy „do”, nigdy „dokładnie”.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64040" y="370332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9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Scenariusz skali, nie wycena księgowa.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864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Dowód: model na publicznych badaniach naukowych, kalibracja Ipsos × Fundacja Nowe Przestrzenie 2026 (n=1000).</a:t>
            </a:r>
            <a:endParaRPr lang="en-US" sz="1200" dirty="0"/>
          </a:p>
        </p:txBody>
      </p:sp>
      <p:sp>
        <p:nvSpPr>
          <p:cNvPr id="19" name="Shape 17">
            <a:hlinkClick r:id="rId1" tooltip=""/>
          </p:cNvPr>
          <p:cNvSpPr/>
          <p:nvPr/>
        </p:nvSpPr>
        <p:spPr>
          <a:xfrm>
            <a:off x="548640" y="5321808"/>
            <a:ext cx="3291840" cy="384048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21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E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POLICZ SWOJĄ FIRMĘ  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53766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Chcesz realny pomiar zamiast scenariusza? Diagnoza FNP: pawel@mamcarz.com</a:t>
            </a:r>
            <a:endParaRPr lang="en-US" sz="1200" dirty="0"/>
          </a:p>
        </p:txBody>
      </p:sp>
      <p:pic>
        <p:nvPicPr>
          <p:cNvPr id="22" name="Image 0" descr="/Users/pawelmamcarz/claude/kalkulator-rezyliencji-fnp/docs/qr-fn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864608"/>
            <a:ext cx="1417320" cy="14173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B8B2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10528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FUNDACJA NOWE PRZESTRZENIE  ×  PAWEŁ MAMCARZ  ·  IPSOS × FNP 2026 (n=1000)  ·  BETA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WARIANT B  ·  NARRACYJNY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92608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MEDIÓW I PUBLICZNOŚCI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"/>
            <a:ext cx="11094415" cy="0"/>
          </a:xfrm>
          <a:prstGeom prst="line">
            <a:avLst/>
          </a:prstGeom>
          <a:noFill/>
          <a:ln w="9525">
            <a:solidFill>
              <a:srgbClr val="B8B2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4980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Najdroższe słowa to te, które nigdy nie padły.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polskich firmach ludzie milczą: o błędach, o pomysłach, o tym, że odchodzą. Milczenie wygląda jak spokój, a działa jak podatek, którego nikt nie uchwalił, ale wszyscy płacą. Fundacja Nowe Przestrzenie policzyła, ile wynosi.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762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Najdroższe exit interview to to, które nigdy się nie odbyło.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23960" y="21762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rotacja i wiedza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2670048"/>
            <a:ext cx="10469880" cy="0"/>
          </a:xfrm>
          <a:prstGeom prst="line">
            <a:avLst/>
          </a:prstGeom>
          <a:noFill/>
          <a:ln w="9525">
            <a:solidFill>
              <a:srgbClr val="C9C2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Każdy kryzys ma w raporcie zdanie „pracownicy wiedzieli wcześniej”.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23960" y="27432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błędy i compliance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6976"/>
            <a:ext cx="10469880" cy="0"/>
          </a:xfrm>
          <a:prstGeom prst="line">
            <a:avLst/>
          </a:prstGeom>
          <a:noFill/>
          <a:ln w="9525">
            <a:solidFill>
              <a:srgbClr val="C9C2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101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31012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Pensja płacona w 100%, obecność w 60%.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23960" y="331012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wypalenie i pasywność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3000" y="3803904"/>
            <a:ext cx="10469880" cy="0"/>
          </a:xfrm>
          <a:prstGeom prst="line">
            <a:avLst/>
          </a:prstGeom>
          <a:noFill/>
          <a:ln w="9525">
            <a:solidFill>
              <a:srgbClr val="C9C2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770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87705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Najdroższy pomysł w firmie to ten, który został w czyjejś głowie.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23960" y="387705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innowacje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43000" y="4370832"/>
            <a:ext cx="10469880" cy="0"/>
          </a:xfrm>
          <a:prstGeom prst="line">
            <a:avLst/>
          </a:prstGeom>
          <a:noFill/>
          <a:ln w="9525">
            <a:solidFill>
              <a:srgbClr val="C9C2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439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4439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Głuchy telefon, w którym każdy szczebel mówi „jest dobrze”.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23960" y="444398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koordynacja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074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Dowód: Ipsos × FNP 2026, 1000 pracujących Polaków, plus publiczne badania z 50 lat ekonomii i psychologii organizacji.</a:t>
            </a:r>
            <a:endParaRPr lang="en-US" sz="1200" dirty="0"/>
          </a:p>
        </p:txBody>
      </p:sp>
      <p:sp>
        <p:nvSpPr>
          <p:cNvPr id="27" name="Shape 25">
            <a:hlinkClick r:id="rId1" tooltip=""/>
          </p:cNvPr>
          <p:cNvSpPr/>
          <p:nvPr/>
        </p:nvSpPr>
        <p:spPr>
          <a:xfrm>
            <a:off x="548640" y="5486400"/>
            <a:ext cx="3931920" cy="384048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486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E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SPRAWDŹ KOSZT MILCZENIA  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5532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Rezyliencja zaczyna się od głosu.</a:t>
            </a:r>
            <a:endParaRPr lang="en-US" sz="1300" dirty="0"/>
          </a:p>
        </p:txBody>
      </p:sp>
      <p:pic>
        <p:nvPicPr>
          <p:cNvPr id="30" name="Image 0" descr="/Users/pawelmamcarz/claude/kalkulator-rezyliencji-fnp/docs/qr-fn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919472"/>
            <a:ext cx="1261872" cy="126187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B8B2A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6510528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FUNDACJA NOWE PRZESTRZENIE  ×  PAWEŁ MAMCARZ  ·  IPSOS × FNP 2026 (n=1000)  ·  BETA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WARIANT C  ·  TRÓJKĄT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92608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ROZMÓW HANDLOWYCH I PARTNERÓW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"/>
            <a:ext cx="11094415" cy="0"/>
          </a:xfrm>
          <a:prstGeom prst="line">
            <a:avLst/>
          </a:prstGeom>
          <a:noFill/>
          <a:ln w="9525">
            <a:solidFill>
              <a:srgbClr val="B8B2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4980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 liczby do planu w trzech krokach.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Kalkulator Rezyliencji FNP to pierwszy krok procesu, który zamienia niewygodną liczbę w konkretny plan wzmocnienia organizacji.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20440" cy="2331720"/>
          </a:xfrm>
          <a:prstGeom prst="rect">
            <a:avLst/>
          </a:prstGeom>
          <a:solidFill>
            <a:srgbClr val="FCFCFA"/>
          </a:solidFill>
          <a:ln w="12700">
            <a:solidFill>
              <a:srgbClr val="C9C2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3520440" cy="73152"/>
          </a:xfrm>
          <a:prstGeom prst="rect">
            <a:avLst/>
          </a:prstGeom>
          <a:solidFill>
            <a:srgbClr val="B81A1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PROLOG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Kalkulator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" y="281635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Scenariusz rocznych strat z milczenia w PLN, w 5 minut, na pięciu danych finansowych. Otwiera rozmowę.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3520440" cy="2331720"/>
          </a:xfrm>
          <a:prstGeom prst="rect">
            <a:avLst/>
          </a:prstGeom>
          <a:solidFill>
            <a:srgbClr val="FCFCFA"/>
          </a:solidFill>
          <a:ln w="12700">
            <a:solidFill>
              <a:srgbClr val="C9C2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874520"/>
            <a:ext cx="3520440" cy="73152"/>
          </a:xfrm>
          <a:prstGeom prst="rect">
            <a:avLst/>
          </a:prstGeom>
          <a:solidFill>
            <a:srgbClr val="B8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453128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BADANIE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53128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Diagnoza FNP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53128" y="281635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Realny pomiar Twojej organizacji zamiast średniej krajowej. Diagnoza zawsze poprzedza działania.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874520"/>
            <a:ext cx="3520440" cy="2331720"/>
          </a:xfrm>
          <a:prstGeom prst="rect">
            <a:avLst/>
          </a:prstGeom>
          <a:solidFill>
            <a:srgbClr val="FCFCFA"/>
          </a:solidFill>
          <a:ln w="12700">
            <a:solidFill>
              <a:srgbClr val="C9C2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874520"/>
            <a:ext cx="3520440" cy="73152"/>
          </a:xfrm>
          <a:prstGeom prst="rect">
            <a:avLst/>
          </a:prstGeom>
          <a:solidFill>
            <a:srgbClr val="B8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8156448" y="20848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8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TERAPIA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56448" y="2359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0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Interwencje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56448" y="281635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Warsztaty komunikacyjne, informacyjne i behawioralne, dobrane do wyniku diagnozy, z budżetem i oczekiwanym zwrotem.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70832"/>
            <a:ext cx="7818120" cy="1783080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4988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B89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ZASADA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477316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 sprzedajemy narzędzia. Sprzedajemy przejście: ile tracisz → dlaczego → ile zainwestować, żeby tracić mniej. Interwencje wychodzą z diagnozy, nie z katalogu.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5596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Dowód: metodologia jawna, badania publiczne, kalibracja Ipsos × FNP 2026 (n=1000), kod otwarty.</a:t>
            </a:r>
            <a:endParaRPr lang="en-US" sz="1200" dirty="0"/>
          </a:p>
        </p:txBody>
      </p:sp>
      <p:pic>
        <p:nvPicPr>
          <p:cNvPr id="26" name="Image 0" descr="/Users/pawelmamcarz/claude/kalkulator-rezyliencji-fnp/docs/qr-fn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4370832"/>
            <a:ext cx="1234440" cy="1234440"/>
          </a:xfrm>
          <a:prstGeom prst="rect">
            <a:avLst/>
          </a:prstGeom>
        </p:spPr>
      </p:pic>
      <p:sp>
        <p:nvSpPr>
          <p:cNvPr id="27" name="Shape 24">
            <a:hlinkClick r:id="rId2" tooltip=""/>
          </p:cNvPr>
          <p:cNvSpPr/>
          <p:nvPr/>
        </p:nvSpPr>
        <p:spPr>
          <a:xfrm>
            <a:off x="8732520" y="5687568"/>
            <a:ext cx="2907792" cy="384048"/>
          </a:xfrm>
          <a:prstGeom prst="rect">
            <a:avLst/>
          </a:prstGeom>
          <a:solidFill>
            <a:srgbClr val="0F0F0E"/>
          </a:solidFill>
          <a:ln/>
        </p:spPr>
      </p:sp>
      <p:sp>
        <p:nvSpPr>
          <p:cNvPr id="28" name="Text 25"/>
          <p:cNvSpPr/>
          <p:nvPr/>
        </p:nvSpPr>
        <p:spPr>
          <a:xfrm>
            <a:off x="8732520" y="568756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E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ZACZNIJ OD LICZBY  →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732520" y="612648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Umów diagnozę: pawel@mamcarz.com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B8B2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510528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FUNDACJA NOWE PRZESTRZENIE  ×  PAWEŁ MAMCARZ  ·  IPSOS × FNP 2026 (n=1000)  ·  BETA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271455" y="6510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Kalkulator Rezyliencji FNP — one-pagery, 3 warianty</dc:title>
  <dc:subject>Do wyboru przez Emilię Brzóskę. Action item ze spotkania 10.08.2026.</dc:subject>
  <dc:creator>Paweł Mamcarz</dc:creator>
  <cp:lastModifiedBy>Paweł Mamcarz</cp:lastModifiedBy>
  <cp:revision>1</cp:revision>
  <dcterms:created xsi:type="dcterms:W3CDTF">2026-09-03T22:20:57Z</dcterms:created>
  <dcterms:modified xsi:type="dcterms:W3CDTF">2026-09-03T22:20:57Z</dcterms:modified>
</cp:coreProperties>
</file>